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8" r:id="rId3"/>
    <p:sldId id="259" r:id="rId4"/>
    <p:sldId id="260" r:id="rId5"/>
    <p:sldId id="261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k\Downloads\Book1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sanak\Downloads\Book17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Total</a:t>
            </a:r>
            <a:r>
              <a:rPr lang="en-US" baseline="0">
                <a:solidFill>
                  <a:schemeClr val="tx1"/>
                </a:solidFill>
              </a:rPr>
              <a:t> Achived VS Total Target</a:t>
            </a:r>
            <a:endParaRPr lang="en-US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Bugdet!$N$12:$N$13</c:f>
              <c:strCache>
                <c:ptCount val="2"/>
                <c:pt idx="0">
                  <c:v>Total Acvhived</c:v>
                </c:pt>
                <c:pt idx="1">
                  <c:v>Total  Target</c:v>
                </c:pt>
              </c:strCache>
            </c:strRef>
          </c:cat>
          <c:val>
            <c:numRef>
              <c:f>Bugdet!$O$12:$O$13</c:f>
              <c:numCache>
                <c:formatCode>0.00,,"M"</c:formatCode>
                <c:ptCount val="2"/>
                <c:pt idx="0">
                  <c:v>35080153.250000015</c:v>
                </c:pt>
                <c:pt idx="1">
                  <c:v>20910000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8-40F7-839C-D73DB551E3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52476320"/>
        <c:axId val="1952478240"/>
      </c:barChart>
      <c:catAx>
        <c:axId val="195247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2478240"/>
        <c:crosses val="autoZero"/>
        <c:auto val="1"/>
        <c:lblAlgn val="ctr"/>
        <c:lblOffset val="100"/>
        <c:noMultiLvlLbl val="0"/>
      </c:catAx>
      <c:valAx>
        <c:axId val="1952478240"/>
        <c:scaling>
          <c:orientation val="minMax"/>
        </c:scaling>
        <c:delete val="1"/>
        <c:axPos val="l"/>
        <c:numFmt formatCode="0.00,,&quot;M&quot;" sourceLinked="1"/>
        <c:majorTickMark val="none"/>
        <c:minorTickMark val="none"/>
        <c:tickLblPos val="nextTo"/>
        <c:crossAx val="195247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opportunity!$AA$16:$AA$18</cx:f>
        <cx:lvl ptCount="3">
          <cx:pt idx="0">Qualify Opportunity</cx:pt>
          <cx:pt idx="1">Negotiate</cx:pt>
          <cx:pt idx="2">Propose Solution</cx:pt>
        </cx:lvl>
      </cx:strDim>
      <cx:numDim type="val">
        <cx:f>opportunity!$AB$16:$AB$18</cx:f>
        <cx:lvl ptCount="3" formatCode="General">
          <cx:pt idx="0">5919500</cx:pt>
          <cx:pt idx="1">899000</cx:pt>
          <cx:pt idx="2">60000</cx:pt>
        </cx:lvl>
      </cx:numDim>
    </cx:data>
  </cx:chartData>
  <cx:chart>
    <cx:title pos="t" align="ctr" overlay="0">
      <cx:tx>
        <cx:txData>
          <cx:v>State Revenue by Funnel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tx1"/>
              </a:solidFill>
            </a:defRPr>
          </a:pPr>
          <a:r>
            <a:rPr lang="en-US" sz="1400" b="0" i="0" u="none" strike="noStrike" baseline="0">
              <a:solidFill>
                <a:schemeClr val="tx1"/>
              </a:solidFill>
              <a:latin typeface="Calibri" panose="020F0502020204030204"/>
            </a:rPr>
            <a:t>State Revenue by Funnel</a:t>
          </a:r>
        </a:p>
      </cx:txPr>
    </cx:title>
    <cx:plotArea>
      <cx:plotAreaRegion>
        <cx:plotSurface>
          <cx:spPr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cx:spPr>
        </cx:plotSurface>
        <cx:series layoutId="funnel" uniqueId="{0BCA11CB-E23E-482B-A264-60E83C6F1F14}">
          <cx:dataLabels>
            <cx:numFmt formatCode="0,0.00,&quot;K&quot;" sourceLinked="0"/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IN">
                  <a:solidFill>
                    <a:schemeClr val="tx1"/>
                  </a:solidFill>
                </a:endParaRPr>
              </a:p>
            </cx:txPr>
            <cx:visibility seriesName="0" categoryName="0" value="1"/>
            <cx:separator>, </cx:separator>
          </cx:dataLabels>
          <cx:dataId val="0"/>
        </cx:series>
      </cx:plotAreaRegion>
      <cx:axis id="0">
        <cx:catScaling gapWidth="0.0599999987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IN">
              <a:solidFill>
                <a:schemeClr val="tx1"/>
              </a:solidFill>
            </a:endParaRPr>
          </a:p>
        </cx:txPr>
      </cx:axis>
    </cx:plotArea>
  </cx:chart>
  <cx:spPr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10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7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58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2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51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8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73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4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05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84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630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177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5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63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394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04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A2DB3-EEAC-4748-B571-1450B493C73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C59DD1F-38E6-4AEC-BC6F-30DBCF5A8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41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mages/search/thank%20you%20q&amp;a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3654-5EF7-B274-C3B8-EEABFA049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250" y="-218123"/>
            <a:ext cx="9144000" cy="1686560"/>
          </a:xfrm>
        </p:spPr>
        <p:txBody>
          <a:bodyPr>
            <a:normAutofit/>
          </a:bodyPr>
          <a:lstStyle/>
          <a:p>
            <a:pPr algn="ctr"/>
            <a:r>
              <a:rPr lang="en-IN" u="sng" dirty="0">
                <a:latin typeface="Algerian" panose="04020705040A02060702" pitchFamily="82" charset="0"/>
              </a:rPr>
              <a:t>Insurance analytics</a:t>
            </a:r>
            <a:br>
              <a:rPr lang="en-IN" u="sng" dirty="0">
                <a:latin typeface="Algerian" panose="04020705040A02060702" pitchFamily="82" charset="0"/>
              </a:rPr>
            </a:br>
            <a:endParaRPr lang="en-IN" sz="2800" dirty="0"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98D18-6AF9-4850-B239-5612A21790CC}"/>
              </a:ext>
            </a:extLst>
          </p:cNvPr>
          <p:cNvSpPr/>
          <p:nvPr/>
        </p:nvSpPr>
        <p:spPr>
          <a:xfrm>
            <a:off x="1428750" y="1685925"/>
            <a:ext cx="77152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latin typeface="Algerian" panose="04020705040A02060702" pitchFamily="82" charset="0"/>
              </a:rPr>
              <a:t>Presented by</a:t>
            </a:r>
            <a:br>
              <a:rPr lang="en-US" sz="2000" dirty="0">
                <a:solidFill>
                  <a:srgbClr val="92D050"/>
                </a:solidFill>
                <a:latin typeface="Algerian" panose="04020705040A02060702" pitchFamily="82" charset="0"/>
              </a:rPr>
            </a:br>
            <a:br>
              <a:rPr lang="en-US" sz="2000" dirty="0">
                <a:solidFill>
                  <a:srgbClr val="92D050"/>
                </a:solidFill>
                <a:latin typeface="Algerian" panose="04020705040A02060702" pitchFamily="82" charset="0"/>
              </a:rPr>
            </a:br>
            <a:r>
              <a:rPr lang="en-US" sz="2000" b="1" dirty="0">
                <a:solidFill>
                  <a:srgbClr val="92D050"/>
                </a:solidFill>
                <a:latin typeface="Algerian" panose="04020705040A02060702" pitchFamily="82" charset="0"/>
              </a:rPr>
              <a:t>Prajwal </a:t>
            </a:r>
            <a:r>
              <a:rPr lang="en-US" sz="2000" b="1" dirty="0" err="1">
                <a:solidFill>
                  <a:srgbClr val="92D050"/>
                </a:solidFill>
                <a:latin typeface="Algerian" panose="04020705040A02060702" pitchFamily="82" charset="0"/>
              </a:rPr>
              <a:t>Ratnaparkhi</a:t>
            </a:r>
            <a:br>
              <a:rPr lang="en-US" sz="2000" b="1" dirty="0">
                <a:solidFill>
                  <a:srgbClr val="92D050"/>
                </a:solidFill>
                <a:latin typeface="Algerian" panose="04020705040A02060702" pitchFamily="82" charset="0"/>
              </a:rPr>
            </a:br>
            <a:br>
              <a:rPr lang="en-US" sz="2000" dirty="0">
                <a:solidFill>
                  <a:srgbClr val="92D050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rgbClr val="92D050"/>
                </a:solidFill>
                <a:latin typeface="Algerian" panose="04020705040A02060702" pitchFamily="82" charset="0"/>
              </a:rPr>
              <a:t>Data Analytics | Bank Analytics Project</a:t>
            </a:r>
            <a:endParaRPr lang="en-IN" sz="2000" b="1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25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CFC50A-7BF4-C4AE-62F3-DEF65E60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245"/>
            <a:ext cx="10515600" cy="53707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INTRODUCTION</a:t>
            </a:r>
          </a:p>
          <a:p>
            <a:endParaRPr lang="en-US" dirty="0"/>
          </a:p>
          <a:p>
            <a:r>
              <a:rPr lang="en-US" dirty="0"/>
              <a:t>This project focuses on building an </a:t>
            </a:r>
            <a:r>
              <a:rPr lang="en-US" b="1" dirty="0"/>
              <a:t>end-to-end Insurance Analytics Dashboard</a:t>
            </a:r>
            <a:r>
              <a:rPr lang="en-US" dirty="0"/>
              <a:t> to help business teams monitor performance and improve decision-making.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analyzed insurance data related to </a:t>
            </a:r>
            <a:r>
              <a:rPr lang="en-US" b="1" dirty="0"/>
              <a:t>revenue, opportunities, renewals, branch performance, and sales activities</a:t>
            </a:r>
            <a:r>
              <a:rPr lang="en-US" dirty="0"/>
              <a:t> and converted it into interactive visual dashboards.</a:t>
            </a:r>
          </a:p>
          <a:p>
            <a:endParaRPr lang="en-US" dirty="0"/>
          </a:p>
          <a:p>
            <a:r>
              <a:rPr lang="en-US" dirty="0"/>
              <a:t>The solution provides a </a:t>
            </a:r>
            <a:r>
              <a:rPr lang="en-US" b="1" dirty="0"/>
              <a:t>single centralized view of key business KPIs</a:t>
            </a:r>
            <a:r>
              <a:rPr lang="en-US" dirty="0"/>
              <a:t>, enabling management to track targets, identify growth opportunities, and optimize sales and operational performance.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By transforming raw insurance data into actionable insights, this project supports </a:t>
            </a:r>
            <a:r>
              <a:rPr lang="en-US" b="1" dirty="0"/>
              <a:t>data-driven business strategy and performance management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35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7D72F6-F01A-EB22-BF35-27CF72B2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5"/>
            <a:ext cx="10515600" cy="600750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Data Overview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this project, we used structured insurance business datasets containing:</a:t>
            </a:r>
          </a:p>
          <a:p>
            <a:endParaRPr lang="en-US" dirty="0"/>
          </a:p>
          <a:p>
            <a:pPr lvl="1"/>
            <a:r>
              <a:rPr lang="en-US" sz="1800" b="1" dirty="0"/>
              <a:t>Policy Data</a:t>
            </a:r>
            <a:r>
              <a:rPr lang="en-US" sz="1800" dirty="0"/>
              <a:t> – Policy type, premium amount, renewal information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Opportunity Data</a:t>
            </a:r>
            <a:r>
              <a:rPr lang="en-US" sz="1800" dirty="0"/>
              <a:t> – Open opportunities, deal stages, pipeline values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Revenue Data</a:t>
            </a:r>
            <a:r>
              <a:rPr lang="en-US" sz="1800" dirty="0"/>
              <a:t> – Brokerage, invoices, achieved revenue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Account Executive Data</a:t>
            </a:r>
            <a:r>
              <a:rPr lang="en-US" sz="1800" dirty="0"/>
              <a:t> – Sales representatives performance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Branch Data</a:t>
            </a:r>
            <a:r>
              <a:rPr lang="en-US" sz="1800" dirty="0"/>
              <a:t> – Location-wise business performance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Meeting Data</a:t>
            </a:r>
            <a:r>
              <a:rPr lang="en-US" sz="1800" dirty="0"/>
              <a:t> – Sales activity tracking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B2A56B-3852-D74A-14B9-7B320E4AF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009"/>
            <a:ext cx="10515600" cy="59999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DATA FLOW &amp; CONNECTION </a:t>
            </a:r>
          </a:p>
          <a:p>
            <a:endParaRPr lang="en-US" b="1" dirty="0"/>
          </a:p>
          <a:p>
            <a:pPr marL="800100" lvl="2" indent="0">
              <a:buNone/>
            </a:pPr>
            <a:r>
              <a:rPr lang="en-US" sz="1800" b="1" dirty="0"/>
              <a:t>Data Flow Architecture</a:t>
            </a:r>
          </a:p>
          <a:p>
            <a:pPr marL="800100" lvl="2" indent="0">
              <a:buNone/>
            </a:pPr>
            <a:endParaRPr lang="en-US" sz="1800" b="1" dirty="0"/>
          </a:p>
          <a:p>
            <a:pPr lvl="2"/>
            <a:r>
              <a:rPr lang="en-US" sz="1800" dirty="0"/>
              <a:t>Raw insurance data imported from Excel files</a:t>
            </a:r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Data cleaning and formatting performed</a:t>
            </a:r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Relationships created between tables:</a:t>
            </a:r>
          </a:p>
          <a:p>
            <a:pPr lvl="3"/>
            <a:r>
              <a:rPr lang="en-US" sz="1800" dirty="0"/>
              <a:t>Account Executive → Opportunities</a:t>
            </a:r>
          </a:p>
          <a:p>
            <a:pPr lvl="3"/>
            <a:r>
              <a:rPr lang="en-US" sz="1800" dirty="0"/>
              <a:t>Branch → Revenue</a:t>
            </a:r>
          </a:p>
          <a:p>
            <a:pPr lvl="3"/>
            <a:r>
              <a:rPr lang="en-US" sz="1800" dirty="0"/>
              <a:t>Meeting Date → Sales Activity</a:t>
            </a:r>
          </a:p>
          <a:p>
            <a:pPr lvl="3"/>
            <a:endParaRPr lang="en-US" sz="1800" dirty="0"/>
          </a:p>
          <a:p>
            <a:pPr lvl="2"/>
            <a:r>
              <a:rPr lang="en-US" sz="1800" dirty="0"/>
              <a:t>Connected cleaned data</a:t>
            </a:r>
          </a:p>
        </p:txBody>
      </p:sp>
    </p:spTree>
    <p:extLst>
      <p:ext uri="{BB962C8B-B14F-4D97-AF65-F5344CB8AC3E}">
        <p14:creationId xmlns:p14="http://schemas.microsoft.com/office/powerpoint/2010/main" val="24859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C8D4-12C6-381D-849C-ADFE9E2A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209" y="305497"/>
            <a:ext cx="11553272" cy="65525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KPIs &amp; BUSINESS IMPACT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sz="2400" b="1" dirty="0"/>
              <a:t>1. Total Brokerage</a:t>
            </a:r>
          </a:p>
          <a:p>
            <a:pPr marL="0" indent="0">
              <a:buNone/>
            </a:pPr>
            <a:r>
              <a:rPr lang="en-US" sz="2400" dirty="0"/>
              <a:t>	Shows total brokerage amount generated by insurance sales</a:t>
            </a:r>
          </a:p>
          <a:p>
            <a:pPr marL="857250" lvl="2" indent="0">
              <a:buNone/>
            </a:pPr>
            <a:endParaRPr lang="en-US" sz="1600" b="1" dirty="0"/>
          </a:p>
          <a:p>
            <a:pPr marL="857250" lvl="2" indent="0">
              <a:buNone/>
            </a:pPr>
            <a:r>
              <a:rPr lang="en-US" sz="1800" b="1" dirty="0"/>
              <a:t>If Increasing:</a:t>
            </a:r>
          </a:p>
          <a:p>
            <a:pPr marL="857250" lvl="2" indent="0">
              <a:buNone/>
            </a:pPr>
            <a:r>
              <a:rPr lang="en-US" sz="1800" dirty="0"/>
              <a:t>1) Business profitability improves</a:t>
            </a:r>
          </a:p>
          <a:p>
            <a:pPr marL="857250" lvl="2" indent="0">
              <a:buNone/>
            </a:pPr>
            <a:r>
              <a:rPr lang="en-US" sz="1800" dirty="0"/>
              <a:t>2) Strong sales performance</a:t>
            </a:r>
          </a:p>
          <a:p>
            <a:pPr marL="857250" lvl="2" indent="0">
              <a:buNone/>
            </a:pPr>
            <a:endParaRPr lang="en-US" sz="1800" dirty="0"/>
          </a:p>
          <a:p>
            <a:pPr marL="857250" lvl="2" indent="0">
              <a:buNone/>
            </a:pPr>
            <a:r>
              <a:rPr lang="en-US" sz="1800" b="1" dirty="0"/>
              <a:t>If Decreasing:</a:t>
            </a:r>
          </a:p>
          <a:p>
            <a:pPr marL="857250" lvl="2" indent="0">
              <a:buNone/>
            </a:pPr>
            <a:r>
              <a:rPr lang="en-US" sz="1800" dirty="0"/>
              <a:t>1) Revenue risk</a:t>
            </a:r>
          </a:p>
          <a:p>
            <a:pPr marL="857250" lvl="2" indent="0">
              <a:buNone/>
            </a:pPr>
            <a:r>
              <a:rPr lang="en-US" sz="1800" dirty="0"/>
              <a:t>2) Need to improve sales strategy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AF259A-42B6-4C91-9B98-81B08C3176D8}"/>
              </a:ext>
            </a:extLst>
          </p:cNvPr>
          <p:cNvGrpSpPr/>
          <p:nvPr/>
        </p:nvGrpSpPr>
        <p:grpSpPr>
          <a:xfrm>
            <a:off x="6096000" y="2799918"/>
            <a:ext cx="4657381" cy="2028733"/>
            <a:chOff x="0" y="0"/>
            <a:chExt cx="2082539" cy="1215743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D857C8-E524-173C-ADF6-B5A05A354CAC}"/>
                </a:ext>
              </a:extLst>
            </p:cNvPr>
            <p:cNvSpPr/>
            <p:nvPr/>
          </p:nvSpPr>
          <p:spPr>
            <a:xfrm>
              <a:off x="0" y="0"/>
              <a:ext cx="2082539" cy="12157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9AA4626-9764-F5BE-7050-8E98077485B1}"/>
                </a:ext>
              </a:extLst>
            </p:cNvPr>
            <p:cNvGrpSpPr/>
            <p:nvPr/>
          </p:nvGrpSpPr>
          <p:grpSpPr>
            <a:xfrm>
              <a:off x="327838" y="178740"/>
              <a:ext cx="1426863" cy="867123"/>
              <a:chOff x="327838" y="178740"/>
              <a:chExt cx="1426863" cy="867123"/>
            </a:xfrm>
            <a:grpFill/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1A36A95-E969-0311-2DB2-3C59EEB49CB1}"/>
                  </a:ext>
                </a:extLst>
              </p:cNvPr>
              <p:cNvSpPr/>
              <p:nvPr/>
            </p:nvSpPr>
            <p:spPr>
              <a:xfrm>
                <a:off x="327838" y="178740"/>
                <a:ext cx="1426863" cy="36787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Total Brokerage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F0EED2A-4176-F200-F5BD-A13E13E1EFC7}"/>
                  </a:ext>
                </a:extLst>
              </p:cNvPr>
              <p:cNvSpPr/>
              <p:nvPr/>
            </p:nvSpPr>
            <p:spPr>
              <a:xfrm>
                <a:off x="478575" y="652940"/>
                <a:ext cx="1125388" cy="392923"/>
              </a:xfrm>
              <a:prstGeom prst="roundRect">
                <a:avLst>
                  <a:gd name="adj" fmla="val 1952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C310D396-3897-4057-ACFA-5AEB7082B931}" type="TxLink">
                  <a:rPr lang="en-US" sz="1600" b="1" i="0" u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pPr algn="ctr"/>
                  <a:t>34.57M</a:t>
                </a:fld>
                <a:endParaRPr lang="en-US" sz="1600" b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923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267D-A645-223B-7D19-014604ADA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3" y="279400"/>
            <a:ext cx="12192000" cy="6299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92D050"/>
                </a:solidFill>
                <a:latin typeface="+mj-lt"/>
              </a:rPr>
              <a:t>2)Cross Sell, New Business, Renewal – Business Impact</a:t>
            </a:r>
          </a:p>
          <a:p>
            <a:pPr marL="0" indent="0">
              <a:buNone/>
            </a:pPr>
            <a:endParaRPr lang="en-US" sz="2600" b="1" dirty="0">
              <a:latin typeface="+mj-lt"/>
            </a:endParaRPr>
          </a:p>
          <a:p>
            <a:pPr marL="0" indent="0">
              <a:buNone/>
            </a:pPr>
            <a:r>
              <a:rPr lang="en-US" dirty="0"/>
              <a:t>This KPI measures revenue contribution from different insurance business segments.</a:t>
            </a:r>
          </a:p>
          <a:p>
            <a:r>
              <a:rPr lang="en-US" b="1" dirty="0"/>
              <a:t>Higher Renewal → Stable revenue flow</a:t>
            </a:r>
            <a:br>
              <a:rPr lang="en-US" dirty="0"/>
            </a:br>
            <a:r>
              <a:rPr lang="en-US" dirty="0"/>
              <a:t>Ensures consistent income and improves customer retention.</a:t>
            </a:r>
          </a:p>
          <a:p>
            <a:endParaRPr lang="en-US" dirty="0"/>
          </a:p>
          <a:p>
            <a:r>
              <a:rPr lang="en-US" b="1" dirty="0"/>
              <a:t>Lower Renewal → Unstable revenue flow</a:t>
            </a:r>
            <a:br>
              <a:rPr lang="en-US" dirty="0"/>
            </a:br>
            <a:r>
              <a:rPr lang="en-US" dirty="0"/>
              <a:t>Indicates customer churn and increased revenue risk.</a:t>
            </a:r>
          </a:p>
          <a:p>
            <a:endParaRPr lang="en-US" dirty="0"/>
          </a:p>
          <a:p>
            <a:r>
              <a:rPr lang="en-US" b="1" dirty="0"/>
              <a:t>Higher Cross Sell → Increased customer value</a:t>
            </a:r>
            <a:br>
              <a:rPr lang="en-US" dirty="0"/>
            </a:br>
            <a:r>
              <a:rPr lang="en-US" dirty="0"/>
              <a:t>Improves revenue per customer and maximizes product utilization.</a:t>
            </a:r>
          </a:p>
          <a:p>
            <a:endParaRPr lang="en-US" dirty="0"/>
          </a:p>
          <a:p>
            <a:r>
              <a:rPr lang="en-US" b="1" dirty="0"/>
              <a:t>Lower Cross Sell → Reduced customer value</a:t>
            </a:r>
            <a:br>
              <a:rPr lang="en-US" dirty="0"/>
            </a:br>
            <a:r>
              <a:rPr lang="en-US" dirty="0"/>
              <a:t>Shows missed upselling opportunities and lower profitability.</a:t>
            </a:r>
          </a:p>
          <a:p>
            <a:endParaRPr lang="en-US" dirty="0"/>
          </a:p>
          <a:p>
            <a:r>
              <a:rPr lang="en-US" b="1" dirty="0"/>
              <a:t>Higher New Business → Faster company growth</a:t>
            </a:r>
            <a:br>
              <a:rPr lang="en-US" dirty="0"/>
            </a:br>
            <a:r>
              <a:rPr lang="en-US" dirty="0"/>
              <a:t>Expands market presence and increases customer base.</a:t>
            </a:r>
          </a:p>
          <a:p>
            <a:endParaRPr lang="en-US" dirty="0"/>
          </a:p>
          <a:p>
            <a:r>
              <a:rPr lang="en-US" b="1" dirty="0"/>
              <a:t>Lower New Business → Slower company growth</a:t>
            </a:r>
            <a:br>
              <a:rPr lang="en-US" dirty="0"/>
            </a:br>
            <a:r>
              <a:rPr lang="en-US" dirty="0"/>
              <a:t>Limits market expansion and reduces long-term revenue potential.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6C637-04D3-103E-B7E0-BFEC1DA1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596" y="1617981"/>
            <a:ext cx="4201163" cy="154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617DC-73CA-F34C-099C-B1C217E5E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597" y="3486151"/>
            <a:ext cx="4201163" cy="1546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F905A8-EB63-4071-C839-17F9761FA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597" y="5209539"/>
            <a:ext cx="4201163" cy="15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5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8F94-C2C8-4811-04E6-16338877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5311" y="845758"/>
            <a:ext cx="10515600" cy="562635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b="1" dirty="0"/>
              <a:t> 3. Total Open Opportunities</a:t>
            </a:r>
          </a:p>
          <a:p>
            <a:pPr lvl="1"/>
            <a:r>
              <a:rPr lang="en-US" sz="1800" dirty="0"/>
              <a:t>Shows future sales pipeline</a:t>
            </a:r>
          </a:p>
          <a:p>
            <a:pPr lvl="1"/>
            <a:r>
              <a:rPr lang="en-US" sz="1800" b="1" dirty="0"/>
              <a:t>Impact:</a:t>
            </a:r>
            <a:endParaRPr lang="en-US" sz="1800" dirty="0"/>
          </a:p>
          <a:p>
            <a:pPr lvl="1"/>
            <a:r>
              <a:rPr lang="en-US" sz="1800" dirty="0"/>
              <a:t>High Value → Strong future revenue potential</a:t>
            </a:r>
          </a:p>
          <a:p>
            <a:pPr lvl="1"/>
            <a:r>
              <a:rPr lang="en-US" sz="1800" dirty="0"/>
              <a:t>Low Value → Weak sales funnel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/>
              <a:t> </a:t>
            </a:r>
            <a:r>
              <a:rPr lang="en-US" sz="2400" b="1" dirty="0"/>
              <a:t>4. Stage Funnel Revenue</a:t>
            </a:r>
          </a:p>
          <a:p>
            <a:pPr lvl="1"/>
            <a:r>
              <a:rPr lang="en-US" sz="1800" dirty="0"/>
              <a:t>Tracks opportunity movement across stages</a:t>
            </a:r>
          </a:p>
          <a:p>
            <a:pPr lvl="1"/>
            <a:r>
              <a:rPr lang="en-US" sz="1800" b="1" dirty="0"/>
              <a:t>Impact:</a:t>
            </a:r>
            <a:endParaRPr lang="en-US" sz="1800" dirty="0"/>
          </a:p>
          <a:p>
            <a:pPr lvl="1"/>
            <a:r>
              <a:rPr lang="en-US" sz="1800" dirty="0"/>
              <a:t>More deals in "Qualified" stage → Growth opportunity</a:t>
            </a:r>
          </a:p>
          <a:p>
            <a:pPr lvl="1"/>
            <a:r>
              <a:rPr lang="en-US" sz="1800" dirty="0"/>
              <a:t>Less deals in "Negotiation" → Conversion problem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949246-8CEA-4426-B1D4-C63BB2856320}"/>
              </a:ext>
            </a:extLst>
          </p:cNvPr>
          <p:cNvGrpSpPr/>
          <p:nvPr/>
        </p:nvGrpSpPr>
        <p:grpSpPr>
          <a:xfrm>
            <a:off x="6508373" y="821138"/>
            <a:ext cx="4778477" cy="1932222"/>
            <a:chOff x="0" y="0"/>
            <a:chExt cx="2082539" cy="1215743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5" name="Rectangle: Rounded Corners 16">
              <a:extLst>
                <a:ext uri="{FF2B5EF4-FFF2-40B4-BE49-F238E27FC236}">
                  <a16:creationId xmlns:a16="http://schemas.microsoft.com/office/drawing/2014/main" id="{8E36678D-96FD-2E05-21D2-1487EF1C1925}"/>
                </a:ext>
              </a:extLst>
            </p:cNvPr>
            <p:cNvSpPr/>
            <p:nvPr/>
          </p:nvSpPr>
          <p:spPr>
            <a:xfrm>
              <a:off x="0" y="0"/>
              <a:ext cx="2082539" cy="12157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2C0FEA-4653-CE2D-56BE-0ECB445D85D5}"/>
                </a:ext>
              </a:extLst>
            </p:cNvPr>
            <p:cNvGrpSpPr/>
            <p:nvPr/>
          </p:nvGrpSpPr>
          <p:grpSpPr>
            <a:xfrm>
              <a:off x="260085" y="144385"/>
              <a:ext cx="1606807" cy="916346"/>
              <a:chOff x="260085" y="144385"/>
              <a:chExt cx="1606807" cy="916346"/>
            </a:xfrm>
            <a:grpFill/>
          </p:grpSpPr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A11EB33E-E646-5D6C-7B1D-4799F9639BB2}"/>
                  </a:ext>
                </a:extLst>
              </p:cNvPr>
              <p:cNvSpPr/>
              <p:nvPr/>
            </p:nvSpPr>
            <p:spPr>
              <a:xfrm>
                <a:off x="260085" y="144385"/>
                <a:ext cx="1606807" cy="4045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>
                    <a:solidFill>
                      <a:schemeClr val="tx1"/>
                    </a:solidFill>
                  </a:rPr>
                  <a:t>Open Opportunity</a:t>
                </a:r>
              </a:p>
              <a:p>
                <a:pPr algn="ctr"/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: Rounded Corners 19">
                <a:extLst>
                  <a:ext uri="{FF2B5EF4-FFF2-40B4-BE49-F238E27FC236}">
                    <a16:creationId xmlns:a16="http://schemas.microsoft.com/office/drawing/2014/main" id="{9E6C0BA0-073C-C1D7-8F05-C27782587EE8}"/>
                  </a:ext>
                </a:extLst>
              </p:cNvPr>
              <p:cNvSpPr/>
              <p:nvPr/>
            </p:nvSpPr>
            <p:spPr>
              <a:xfrm>
                <a:off x="523012" y="667808"/>
                <a:ext cx="1125388" cy="39292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27BED036-ABF6-4577-B80F-A1EFCB570AA2}" type="TxLink">
                  <a:rPr lang="en-US" sz="1600" b="1" i="0" u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pPr algn="ctr"/>
                  <a:t>44</a:t>
                </a:fld>
                <a:endParaRPr lang="en-US" sz="1600" b="1"/>
              </a:p>
            </p:txBody>
          </p:sp>
        </p:grpSp>
      </p:grp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77650670-CF8E-4C79-9CF9-F2D2ABDEE0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46411417"/>
                  </p:ext>
                </p:extLst>
              </p:nvPr>
            </p:nvGraphicFramePr>
            <p:xfrm>
              <a:off x="6508372" y="3962504"/>
              <a:ext cx="5033387" cy="269761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77650670-CF8E-4C79-9CF9-F2D2ABDEE0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8372" y="3962504"/>
                <a:ext cx="5033387" cy="26976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86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CA819-3041-CF98-B162-AC64F4500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20" y="818053"/>
            <a:ext cx="11206480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 5. Target vs Achieved Revenue</a:t>
            </a:r>
          </a:p>
          <a:p>
            <a:r>
              <a:rPr lang="en-US" dirty="0"/>
              <a:t>Measures branch and team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	Impact:</a:t>
            </a:r>
            <a:endParaRPr lang="en-US" dirty="0"/>
          </a:p>
          <a:p>
            <a:r>
              <a:rPr lang="en-US" dirty="0"/>
              <a:t>Achieved &gt; Target → Business success</a:t>
            </a:r>
          </a:p>
          <a:p>
            <a:r>
              <a:rPr lang="en-US" dirty="0"/>
              <a:t>Achieved &lt; Target → Performance gap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3A1F500-F7AC-4567-B122-4E4460ABFB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120510"/>
              </p:ext>
            </p:extLst>
          </p:nvPr>
        </p:nvGraphicFramePr>
        <p:xfrm>
          <a:off x="3952852" y="3429000"/>
          <a:ext cx="4286295" cy="3037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6903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5BB7E-0AB9-ADDC-89D9-816A43F3D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3"/>
            <a:ext cx="10515600" cy="52111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Excel Dashboard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5B9F5-B7EF-FD4B-466F-03F895EEB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619433"/>
            <a:ext cx="11487150" cy="5358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9DCACA-3DFB-7AB9-A361-8D9ACB9290C5}"/>
              </a:ext>
            </a:extLst>
          </p:cNvPr>
          <p:cNvSpPr txBox="1"/>
          <p:nvPr/>
        </p:nvSpPr>
        <p:spPr>
          <a:xfrm>
            <a:off x="686722" y="6113346"/>
            <a:ext cx="11583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Provides a high-level snapshot of total brokerage, open opportunities, achieved vs target, and executive-wise performance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652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4BF5-2C93-E307-07DC-E837A334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594"/>
            <a:ext cx="10515600" cy="53944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Power bi Dashboard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3BFB21-B09C-2AFD-9714-4F67954C8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148" y="796413"/>
            <a:ext cx="11897032" cy="5348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1FA70B-06F9-F47A-BA6E-35E2F6F17D41}"/>
              </a:ext>
            </a:extLst>
          </p:cNvPr>
          <p:cNvSpPr txBox="1"/>
          <p:nvPr/>
        </p:nvSpPr>
        <p:spPr>
          <a:xfrm>
            <a:off x="167148" y="6260537"/>
            <a:ext cx="1071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Highlights revenue distribution across New, Renewal, and Cross-sell with executive contribution analysis.</a:t>
            </a:r>
          </a:p>
        </p:txBody>
      </p:sp>
    </p:spTree>
    <p:extLst>
      <p:ext uri="{BB962C8B-B14F-4D97-AF65-F5344CB8AC3E}">
        <p14:creationId xmlns:p14="http://schemas.microsoft.com/office/powerpoint/2010/main" val="4674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673A-202B-1075-E8E2-90DA92FE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40"/>
            <a:ext cx="10515600" cy="509946"/>
          </a:xfrm>
        </p:spPr>
        <p:txBody>
          <a:bodyPr>
            <a:noAutofit/>
          </a:bodyPr>
          <a:lstStyle/>
          <a:p>
            <a:pPr algn="ctr"/>
            <a:r>
              <a:rPr lang="en-US" sz="3200" u="sng" cap="all" dirty="0">
                <a:latin typeface="Algerian" panose="04020705040A02060702" pitchFamily="82" charset="0"/>
              </a:rPr>
              <a:t>Tableau Dashboard</a:t>
            </a:r>
            <a:endParaRPr lang="en-IN" sz="3200" u="sng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33F19-139F-4260-CC60-56678DFC1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82" y="770990"/>
            <a:ext cx="11961635" cy="53160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D7B958-482E-38B1-2FE3-75FEAE7C5A2A}"/>
              </a:ext>
            </a:extLst>
          </p:cNvPr>
          <p:cNvSpPr txBox="1"/>
          <p:nvPr/>
        </p:nvSpPr>
        <p:spPr>
          <a:xfrm>
            <a:off x="115181" y="6137014"/>
            <a:ext cx="11890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Stage-wise funnel shows major revenue drop at negotiation and proposal stages, indicating follow-up and pricing gaps.</a:t>
            </a:r>
          </a:p>
        </p:txBody>
      </p:sp>
    </p:spTree>
    <p:extLst>
      <p:ext uri="{BB962C8B-B14F-4D97-AF65-F5344CB8AC3E}">
        <p14:creationId xmlns:p14="http://schemas.microsoft.com/office/powerpoint/2010/main" val="1387587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EEE2-B60F-21D6-F377-8767DB08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68"/>
            <a:ext cx="10515600" cy="497503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cap="all" dirty="0">
                <a:latin typeface="Algerian" panose="04020705040A02060702" pitchFamily="82" charset="0"/>
              </a:rPr>
              <a:t>SQL Dashboard</a:t>
            </a:r>
            <a:endParaRPr lang="en-IN" u="sng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CA805-A04C-FB97-5223-E9B3EF505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975" y="680720"/>
            <a:ext cx="11690554" cy="617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99D4-E86D-7D19-6A0C-AB172860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98"/>
            <a:ext cx="10515600" cy="69675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u="sng" dirty="0">
                <a:latin typeface="Algerian" panose="04020705040A02060702" pitchFamily="82" charset="0"/>
              </a:rPr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AFC9-A702-9D0D-5486-B3BC07DAF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1551305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Technical &amp; Data Challenges :-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Missing values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KPI formatting errors</a:t>
            </a:r>
          </a:p>
          <a:p>
            <a:endParaRPr lang="en-IN" dirty="0"/>
          </a:p>
          <a:p>
            <a:r>
              <a:rPr lang="en-IN" dirty="0"/>
              <a:t>Handling dynamic filters</a:t>
            </a:r>
          </a:p>
          <a:p>
            <a:endParaRPr lang="en-IN" dirty="0"/>
          </a:p>
          <a:p>
            <a:r>
              <a:rPr lang="en-IN" dirty="0"/>
              <a:t>Relationship mismatches</a:t>
            </a:r>
          </a:p>
        </p:txBody>
      </p:sp>
    </p:spTree>
    <p:extLst>
      <p:ext uri="{BB962C8B-B14F-4D97-AF65-F5344CB8AC3E}">
        <p14:creationId xmlns:p14="http://schemas.microsoft.com/office/powerpoint/2010/main" val="34360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83DB-335E-5320-6B1A-0B20E49A9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7360"/>
            <a:ext cx="10515600" cy="5709603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SUGGESTIONS FROM OUR END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Business Recommendations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Improve renewal strategy to ensure consistent revenue</a:t>
            </a:r>
          </a:p>
          <a:p>
            <a:endParaRPr lang="en-US" dirty="0"/>
          </a:p>
          <a:p>
            <a:r>
              <a:rPr lang="en-US" dirty="0"/>
              <a:t>Focus on high-value opportunity conversion</a:t>
            </a:r>
          </a:p>
          <a:p>
            <a:endParaRPr lang="en-US" dirty="0"/>
          </a:p>
          <a:p>
            <a:r>
              <a:rPr lang="en-US" dirty="0"/>
              <a:t>Increase digital adoption for policy renewals</a:t>
            </a:r>
          </a:p>
          <a:p>
            <a:endParaRPr lang="en-US" dirty="0"/>
          </a:p>
          <a:p>
            <a:r>
              <a:rPr lang="en-US" dirty="0"/>
              <a:t>Provide performance-based incentives to sales executives</a:t>
            </a:r>
          </a:p>
          <a:p>
            <a:endParaRPr lang="en-US" dirty="0"/>
          </a:p>
          <a:p>
            <a:r>
              <a:rPr lang="en-US" dirty="0"/>
              <a:t>Strengthen underperforming branch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341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23E3-CEEB-FEA7-F411-56CE265B9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586104"/>
            <a:ext cx="10515600" cy="531685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BUSINESS IMPACT OF SUGGESTIONS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Expected Business Impact</a:t>
            </a:r>
          </a:p>
          <a:p>
            <a:endParaRPr lang="en-US" b="1" dirty="0"/>
          </a:p>
          <a:p>
            <a:r>
              <a:rPr lang="en-US" dirty="0"/>
              <a:t>Higher customer retention</a:t>
            </a:r>
          </a:p>
          <a:p>
            <a:endParaRPr lang="en-US" dirty="0"/>
          </a:p>
          <a:p>
            <a:r>
              <a:rPr lang="en-US" dirty="0"/>
              <a:t>Increased revenue growth</a:t>
            </a:r>
          </a:p>
          <a:p>
            <a:endParaRPr lang="en-US" dirty="0"/>
          </a:p>
          <a:p>
            <a:r>
              <a:rPr lang="en-US" dirty="0"/>
              <a:t>Better sales productivity</a:t>
            </a:r>
          </a:p>
          <a:p>
            <a:endParaRPr lang="en-US" dirty="0"/>
          </a:p>
          <a:p>
            <a:r>
              <a:rPr lang="en-US" dirty="0"/>
              <a:t>Improved pipeline conversion rate</a:t>
            </a:r>
          </a:p>
          <a:p>
            <a:endParaRPr lang="en-US" dirty="0"/>
          </a:p>
          <a:p>
            <a:r>
              <a:rPr lang="en-US" dirty="0"/>
              <a:t>Stronger business forecasting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943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D0BBC-3726-42D7-2E24-4EC9CF48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630078"/>
            <a:ext cx="10515600" cy="55978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u="sng" dirty="0">
                <a:solidFill>
                  <a:srgbClr val="92D050"/>
                </a:solidFill>
                <a:latin typeface="Algerian" panose="04020705040A02060702" pitchFamily="82" charset="0"/>
              </a:rPr>
              <a:t>CONCLUSION</a:t>
            </a:r>
          </a:p>
          <a:p>
            <a:pPr marL="0" indent="0" algn="ctr">
              <a:buNone/>
            </a:pPr>
            <a:endParaRPr lang="en-US" b="1" dirty="0"/>
          </a:p>
          <a:p>
            <a:r>
              <a:rPr lang="en-US" dirty="0"/>
              <a:t>The Insurance Analytics Dashboard successfully converts raw business data into meaningful insights.</a:t>
            </a:r>
          </a:p>
          <a:p>
            <a:endParaRPr lang="en-US" dirty="0"/>
          </a:p>
          <a:p>
            <a:r>
              <a:rPr lang="en-US" dirty="0"/>
              <a:t>It enables real-time performance tracking and strategic decision-making.</a:t>
            </a:r>
          </a:p>
          <a:p>
            <a:endParaRPr lang="en-US" dirty="0"/>
          </a:p>
          <a:p>
            <a:r>
              <a:rPr lang="en-US" dirty="0"/>
              <a:t>This project demonstrates the practical application of </a:t>
            </a:r>
            <a:r>
              <a:rPr lang="en-US" b="1" dirty="0"/>
              <a:t>business intelligence, data analytics, and visualization skills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dashboard can be effectively used by management for </a:t>
            </a:r>
            <a:r>
              <a:rPr lang="en-US" b="1" dirty="0"/>
              <a:t>continuous business improvement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project bridges the gap between raw data and business strategy by converting data into decision-ready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513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BC0A98-F597-F720-44CE-C279A76EB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27201" y="1253331"/>
            <a:ext cx="7843520" cy="3808655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275817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</TotalTime>
  <Words>686</Words>
  <Application>Microsoft Office PowerPoint</Application>
  <PresentationFormat>Widescreen</PresentationFormat>
  <Paragraphs>154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Calibri</vt:lpstr>
      <vt:lpstr>Trebuchet MS</vt:lpstr>
      <vt:lpstr>Wingdings 3</vt:lpstr>
      <vt:lpstr>Facet</vt:lpstr>
      <vt:lpstr>Insurance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bi Dashboard</vt:lpstr>
      <vt:lpstr>Tableau Dashboard</vt:lpstr>
      <vt:lpstr>SQL Dashboard</vt:lpstr>
      <vt:lpstr>CHALLENGES FACED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analytics </dc:title>
  <dc:creator>Sana khan</dc:creator>
  <cp:lastModifiedBy>DELL</cp:lastModifiedBy>
  <cp:revision>15</cp:revision>
  <dcterms:created xsi:type="dcterms:W3CDTF">2026-01-18T18:28:27Z</dcterms:created>
  <dcterms:modified xsi:type="dcterms:W3CDTF">2026-04-07T11:28:06Z</dcterms:modified>
</cp:coreProperties>
</file>